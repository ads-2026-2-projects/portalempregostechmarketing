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666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chemeClr val="lt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name="AutoShape 3" id="3"/>
          <p:cNvSpPr/>
          <p:nvPr/>
        </p:nvSpPr>
        <p:spPr>
          <a:xfrm rot="0">
            <a:off x="0" y="0"/>
            <a:ext cx="256032" cy="6858000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AutoShape 4" id="4"/>
          <p:cNvSpPr/>
          <p:nvPr/>
        </p:nvSpPr>
        <p:spPr>
          <a:xfrm rot="0">
            <a:off x="256032" y="0"/>
            <a:ext cx="128016" cy="6858000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TextBox 5" id="5"/>
          <p:cNvSpPr txBox="true"/>
          <p:nvPr/>
        </p:nvSpPr>
        <p:spPr>
          <a:xfrm rot="0">
            <a:off x="1005840" y="1280160"/>
            <a:ext cx="10058400" cy="5486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500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PITCH DECK  •  CONTRATAÇÃO CLT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5840" y="1828800"/>
            <a:ext cx="10241280" cy="20116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44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Portal de Empregos Especializado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44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em </a:t>
            </a:r>
            <a:r>
              <a:rPr lang="en-US" b="true" sz="44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Tecnologia</a:t>
            </a:r>
            <a:r>
              <a:rPr lang="en-US" b="true" sz="44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b="true" sz="4400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4114800"/>
            <a:ext cx="9601200" cy="9144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8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Transparência, Padronização e Candidatura Antiatrito para vagas CLT — presencial, híbrida e home office.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005840" y="5212080"/>
            <a:ext cx="2011680" cy="50292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9" id="9"/>
          <p:cNvSpPr txBox="true"/>
          <p:nvPr/>
        </p:nvSpPr>
        <p:spPr>
          <a:xfrm rot="0">
            <a:off x="1005840" y="5212080"/>
            <a:ext cx="2011680" cy="5029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14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Presencial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3291840" y="5212080"/>
            <a:ext cx="2011680" cy="50292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11" id="11"/>
          <p:cNvSpPr txBox="true"/>
          <p:nvPr/>
        </p:nvSpPr>
        <p:spPr>
          <a:xfrm rot="0">
            <a:off x="3291840" y="5212080"/>
            <a:ext cx="2011680" cy="5029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1400">
                <a:solidFill>
                  <a:srgbClr val="0E1B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Híbrida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5577840" y="5212080"/>
            <a:ext cx="2011680" cy="50292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13" id="13"/>
          <p:cNvSpPr txBox="true"/>
          <p:nvPr/>
        </p:nvSpPr>
        <p:spPr>
          <a:xfrm rot="0">
            <a:off x="5577840" y="5212080"/>
            <a:ext cx="2011680" cy="5029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1400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Home Office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chemeClr val="lt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name="AutoShape 3" id="3"/>
          <p:cNvSpPr/>
          <p:nvPr/>
        </p:nvSpPr>
        <p:spPr>
          <a:xfrm rot="0">
            <a:off x="0" y="0"/>
            <a:ext cx="256032" cy="6858000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AutoShape 4" id="4"/>
          <p:cNvSpPr/>
          <p:nvPr/>
        </p:nvSpPr>
        <p:spPr>
          <a:xfrm rot="0">
            <a:off x="640080" y="502920"/>
            <a:ext cx="777240" cy="77724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5" id="5"/>
          <p:cNvSpPr txBox="true"/>
          <p:nvPr/>
        </p:nvSpPr>
        <p:spPr>
          <a:xfrm rot="0"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30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502920"/>
            <a:ext cx="9601200" cy="3657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299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 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841248"/>
            <a:ext cx="10058400" cy="640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30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Contratação CLT lenta e desalinhada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627632" y="1481328"/>
            <a:ext cx="2011680" cy="45720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AutoShape 9" id="9"/>
          <p:cNvSpPr/>
          <p:nvPr/>
        </p:nvSpPr>
        <p:spPr>
          <a:xfrm rot="0">
            <a:off x="640080" y="1920240"/>
            <a:ext cx="5257800" cy="402336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10" id="10"/>
          <p:cNvSpPr txBox="true"/>
          <p:nvPr/>
        </p:nvSpPr>
        <p:spPr>
          <a:xfrm rot="0">
            <a:off x="960120" y="2194560"/>
            <a:ext cx="466344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8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 os profissionais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120" y="2834640"/>
            <a:ext cx="4663440" cy="2926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b="true" sz="1100">
                <a:solidFill>
                  <a:srgbClr val="2B59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5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Perdem tempo preenchendo cadastros em diversos sites externos.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b="true" sz="1100">
                <a:solidFill>
                  <a:srgbClr val="2B59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5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Precisam criar e atualizar PDFs de currículo manualmente.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b="true" sz="1100">
                <a:solidFill>
                  <a:srgbClr val="2B59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5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Falta clareza sobre a rotina real da vaga antes de aplicar.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6263640" y="1920240"/>
            <a:ext cx="5257800" cy="402336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13" id="13"/>
          <p:cNvSpPr txBox="true"/>
          <p:nvPr/>
        </p:nvSpPr>
        <p:spPr>
          <a:xfrm rot="0">
            <a:off x="6583680" y="2194560"/>
            <a:ext cx="466344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800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 as empresas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2834640"/>
            <a:ext cx="4663440" cy="2926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b="true" sz="1100">
                <a:solidFill>
                  <a:srgbClr val="E12D8B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5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Processos seletivos lentos e burocráticos.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b="true" sz="1100">
                <a:solidFill>
                  <a:srgbClr val="E12D8B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5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Currículos desarmonizados, em formatos diferentes.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b="true" sz="1100">
                <a:solidFill>
                  <a:srgbClr val="E12D8B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5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Candidaturas fora do perfil por títulos e descrições genéricas.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chemeClr val="lt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name="AutoShape 3" id="3"/>
          <p:cNvSpPr/>
          <p:nvPr/>
        </p:nvSpPr>
        <p:spPr>
          <a:xfrm rot="0">
            <a:off x="0" y="0"/>
            <a:ext cx="256032" cy="6858000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AutoShape 4" id="4"/>
          <p:cNvSpPr/>
          <p:nvPr/>
        </p:nvSpPr>
        <p:spPr>
          <a:xfrm rot="0">
            <a:off x="640080" y="502920"/>
            <a:ext cx="777240" cy="77724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5" id="5"/>
          <p:cNvSpPr txBox="true"/>
          <p:nvPr/>
        </p:nvSpPr>
        <p:spPr>
          <a:xfrm rot="0"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30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502920"/>
            <a:ext cx="9601200" cy="3657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299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NICHO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841248"/>
            <a:ext cx="10058400" cy="640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30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Foco em especialistas de Tech &amp; Marketing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627632" y="1481328"/>
            <a:ext cx="2011680" cy="45720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TextBox 9" id="9"/>
          <p:cNvSpPr txBox="true"/>
          <p:nvPr/>
        </p:nvSpPr>
        <p:spPr>
          <a:xfrm rot="0"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7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Empresas e profissionais especialistas, voltados a contratações formais (CLT).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640080" y="2468880"/>
            <a:ext cx="5257800" cy="173736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11" id="11"/>
          <p:cNvSpPr/>
          <p:nvPr/>
        </p:nvSpPr>
        <p:spPr>
          <a:xfrm rot="0">
            <a:off x="640080" y="2468880"/>
            <a:ext cx="128016" cy="1737360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TextBox 12" id="12"/>
          <p:cNvSpPr txBox="true"/>
          <p:nvPr/>
        </p:nvSpPr>
        <p:spPr>
          <a:xfrm rot="0">
            <a:off x="1005840" y="2697480"/>
            <a:ext cx="466344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2199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Tecnologia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5840" y="3291840"/>
            <a:ext cx="4663440" cy="8229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4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Desenvolvimento, dados, infraestrutura, produto e afins.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6263640" y="2468880"/>
            <a:ext cx="5257800" cy="173736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15" id="15"/>
          <p:cNvSpPr/>
          <p:nvPr/>
        </p:nvSpPr>
        <p:spPr>
          <a:xfrm rot="0">
            <a:off x="6263640" y="2468880"/>
            <a:ext cx="128016" cy="1737360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TextBox 16" id="16"/>
          <p:cNvSpPr txBox="true"/>
          <p:nvPr/>
        </p:nvSpPr>
        <p:spPr>
          <a:xfrm rot="0">
            <a:off x="6629400" y="2697480"/>
            <a:ext cx="466344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2199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29400" y="3291840"/>
            <a:ext cx="4663440" cy="8229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4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Performance, conteúdo, branding, social e criação.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0080" y="4572000"/>
            <a:ext cx="10058400" cy="3657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599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Modalidades de trabalho</a:t>
            </a:r>
          </a:p>
        </p:txBody>
      </p:sp>
      <p:sp>
        <p:nvSpPr>
          <p:cNvPr name="AutoShape 19" id="19"/>
          <p:cNvSpPr/>
          <p:nvPr/>
        </p:nvSpPr>
        <p:spPr>
          <a:xfrm rot="0">
            <a:off x="640080" y="5074920"/>
            <a:ext cx="2560320" cy="685800"/>
          </a:xfrm>
          <a:prstGeom prst="roundRect">
            <a:avLst>
              <a:gd fmla="val 16667" name="adj"/>
            </a:avLst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TextBox 20" id="20"/>
          <p:cNvSpPr txBox="true"/>
          <p:nvPr/>
        </p:nvSpPr>
        <p:spPr>
          <a:xfrm rot="0">
            <a:off x="640080" y="5074920"/>
            <a:ext cx="2560320" cy="68580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1599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Presencial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3429000" y="5074920"/>
            <a:ext cx="2560320" cy="685800"/>
          </a:xfrm>
          <a:prstGeom prst="roundRect">
            <a:avLst>
              <a:gd fmla="val 16667" name="adj"/>
            </a:avLst>
          </a:prstGeom>
          <a:solidFill>
            <a:srgbClr val="0E1B3D">
              <a:alpha val="100000"/>
            </a:srgbClr>
          </a:solidFill>
          <a:ln/>
        </p:spPr>
      </p:sp>
      <p:sp>
        <p:nvSpPr>
          <p:cNvPr name="TextBox 22" id="22"/>
          <p:cNvSpPr txBox="true"/>
          <p:nvPr/>
        </p:nvSpPr>
        <p:spPr>
          <a:xfrm rot="0">
            <a:off x="3429000" y="5074920"/>
            <a:ext cx="2560320" cy="68580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1599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Híbrida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6217920" y="5074920"/>
            <a:ext cx="2560320" cy="685800"/>
          </a:xfrm>
          <a:prstGeom prst="roundRect">
            <a:avLst>
              <a:gd fmla="val 16667" name="adj"/>
            </a:avLst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TextBox 24" id="24"/>
          <p:cNvSpPr txBox="true"/>
          <p:nvPr/>
        </p:nvSpPr>
        <p:spPr>
          <a:xfrm rot="0">
            <a:off x="6217920" y="5074920"/>
            <a:ext cx="2560320" cy="68580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1599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Home Office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chemeClr val="lt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name="AutoShape 3" id="3"/>
          <p:cNvSpPr/>
          <p:nvPr/>
        </p:nvSpPr>
        <p:spPr>
          <a:xfrm rot="0">
            <a:off x="0" y="0"/>
            <a:ext cx="256032" cy="6858000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AutoShape 4" id="4"/>
          <p:cNvSpPr/>
          <p:nvPr/>
        </p:nvSpPr>
        <p:spPr>
          <a:xfrm rot="0">
            <a:off x="640080" y="502920"/>
            <a:ext cx="777240" cy="77724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5" id="5"/>
          <p:cNvSpPr txBox="true"/>
          <p:nvPr/>
        </p:nvSpPr>
        <p:spPr>
          <a:xfrm rot="0"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30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502920"/>
            <a:ext cx="9601200" cy="3657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299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IDEIA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841248"/>
            <a:ext cx="10058400" cy="640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30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Portal especializado com currículo nativo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627632" y="1481328"/>
            <a:ext cx="2011680" cy="45720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AutoShape 9" id="9"/>
          <p:cNvSpPr/>
          <p:nvPr/>
        </p:nvSpPr>
        <p:spPr>
          <a:xfrm rot="0">
            <a:off x="640080" y="1965960"/>
            <a:ext cx="10881360" cy="1170432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10" id="10"/>
          <p:cNvSpPr/>
          <p:nvPr/>
        </p:nvSpPr>
        <p:spPr>
          <a:xfrm rot="0">
            <a:off x="868680" y="2185416"/>
            <a:ext cx="731520" cy="731520"/>
          </a:xfrm>
          <a:prstGeom prst="roundRect">
            <a:avLst>
              <a:gd fmla="val 16667" name="adj"/>
            </a:avLst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TextBox 11" id="11"/>
          <p:cNvSpPr txBox="true"/>
          <p:nvPr/>
        </p:nvSpPr>
        <p:spPr>
          <a:xfrm rot="0">
            <a:off x="868680" y="2185416"/>
            <a:ext cx="731520" cy="7315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28800" y="2112264"/>
            <a:ext cx="914400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899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Abas exclusivas Tech &amp; Marketing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28800" y="2569464"/>
            <a:ext cx="914400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4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Navegação segmentada por área de atuação.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640080" y="3337560"/>
            <a:ext cx="10881360" cy="1170432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15" id="15"/>
          <p:cNvSpPr/>
          <p:nvPr/>
        </p:nvSpPr>
        <p:spPr>
          <a:xfrm rot="0">
            <a:off x="868680" y="3557016"/>
            <a:ext cx="731520" cy="731520"/>
          </a:xfrm>
          <a:prstGeom prst="roundRect">
            <a:avLst>
              <a:gd fmla="val 16667" name="adj"/>
            </a:avLst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TextBox 16" id="16"/>
          <p:cNvSpPr txBox="true"/>
          <p:nvPr/>
        </p:nvSpPr>
        <p:spPr>
          <a:xfrm rot="0">
            <a:off x="868680" y="3557016"/>
            <a:ext cx="731520" cy="7315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28800" y="3483864"/>
            <a:ext cx="914400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899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Especificação da Função obrigatória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28800" y="3941064"/>
            <a:ext cx="914400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4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Cada vaga descreve a rotina de forma detalhada.</a:t>
            </a:r>
          </a:p>
        </p:txBody>
      </p:sp>
      <p:sp>
        <p:nvSpPr>
          <p:cNvPr name="AutoShape 19" id="19"/>
          <p:cNvSpPr/>
          <p:nvPr/>
        </p:nvSpPr>
        <p:spPr>
          <a:xfrm rot="0">
            <a:off x="640080" y="4709160"/>
            <a:ext cx="10881360" cy="1170432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20" id="20"/>
          <p:cNvSpPr/>
          <p:nvPr/>
        </p:nvSpPr>
        <p:spPr>
          <a:xfrm rot="0">
            <a:off x="868680" y="4928616"/>
            <a:ext cx="731520" cy="731520"/>
          </a:xfrm>
          <a:prstGeom prst="roundRect">
            <a:avLst>
              <a:gd fmla="val 16667" name="adj"/>
            </a:avLst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TextBox 21" id="21"/>
          <p:cNvSpPr txBox="true"/>
          <p:nvPr/>
        </p:nvSpPr>
        <p:spPr>
          <a:xfrm rot="0">
            <a:off x="868680" y="4928616"/>
            <a:ext cx="731520" cy="7315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8800" y="4855464"/>
            <a:ext cx="914400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899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Currículo Nativo do Site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8800" y="5312664"/>
            <a:ext cx="914400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4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Gerado por formulário guiado em abas, 100% editável.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chemeClr val="lt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name="AutoShape 3" id="3"/>
          <p:cNvSpPr/>
          <p:nvPr/>
        </p:nvSpPr>
        <p:spPr>
          <a:xfrm rot="0">
            <a:off x="0" y="0"/>
            <a:ext cx="256032" cy="6858000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AutoShape 4" id="4"/>
          <p:cNvSpPr/>
          <p:nvPr/>
        </p:nvSpPr>
        <p:spPr>
          <a:xfrm rot="0">
            <a:off x="640080" y="502920"/>
            <a:ext cx="777240" cy="77724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5" id="5"/>
          <p:cNvSpPr txBox="true"/>
          <p:nvPr/>
        </p:nvSpPr>
        <p:spPr>
          <a:xfrm rot="0"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30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502920"/>
            <a:ext cx="9601200" cy="3657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299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EXPERIÊNCIA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841248"/>
            <a:ext cx="10058400" cy="640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30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Candidatura em 1 clique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627632" y="1481328"/>
            <a:ext cx="2011680" cy="45720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AutoShape 9" id="9"/>
          <p:cNvSpPr/>
          <p:nvPr/>
        </p:nvSpPr>
        <p:spPr>
          <a:xfrm rot="0">
            <a:off x="640080" y="2377440"/>
            <a:ext cx="2560320" cy="246888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10" id="10"/>
          <p:cNvSpPr/>
          <p:nvPr/>
        </p:nvSpPr>
        <p:spPr>
          <a:xfrm rot="0">
            <a:off x="1554480" y="2651760"/>
            <a:ext cx="731520" cy="731520"/>
          </a:xfrm>
          <a:prstGeom prst="roundRect">
            <a:avLst>
              <a:gd fmla="val 16667" name="adj"/>
            </a:avLst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TextBox 11" id="11"/>
          <p:cNvSpPr txBox="true"/>
          <p:nvPr/>
        </p:nvSpPr>
        <p:spPr>
          <a:xfrm rot="0">
            <a:off x="1554480" y="2651760"/>
            <a:ext cx="731520" cy="7315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080" y="3611880"/>
            <a:ext cx="256032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b="true" sz="17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Cadastro único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4069080"/>
            <a:ext cx="2194560" cy="73152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lang="en-US" sz="1299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Preenchimento guiado em abas.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27248" y="3200400"/>
            <a:ext cx="457200" cy="5486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6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name="AutoShape 15" id="15"/>
          <p:cNvSpPr/>
          <p:nvPr/>
        </p:nvSpPr>
        <p:spPr>
          <a:xfrm rot="0">
            <a:off x="3429000" y="2377440"/>
            <a:ext cx="2560320" cy="246888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16" id="16"/>
          <p:cNvSpPr/>
          <p:nvPr/>
        </p:nvSpPr>
        <p:spPr>
          <a:xfrm rot="0">
            <a:off x="4343400" y="2651760"/>
            <a:ext cx="731520" cy="731520"/>
          </a:xfrm>
          <a:prstGeom prst="roundRect">
            <a:avLst>
              <a:gd fmla="val 16667" name="adj"/>
            </a:avLst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TextBox 17" id="17"/>
          <p:cNvSpPr txBox="true"/>
          <p:nvPr/>
        </p:nvSpPr>
        <p:spPr>
          <a:xfrm rot="0">
            <a:off x="4343400" y="2651760"/>
            <a:ext cx="731520" cy="7315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29000" y="3611880"/>
            <a:ext cx="256032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b="true" sz="17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CV gerado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11880" y="4069080"/>
            <a:ext cx="2194560" cy="73152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lang="en-US" sz="1299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Currículo profissional na plataforma.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6168" y="3200400"/>
            <a:ext cx="457200" cy="5486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6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6217920" y="2377440"/>
            <a:ext cx="2560320" cy="246888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22" id="22"/>
          <p:cNvSpPr/>
          <p:nvPr/>
        </p:nvSpPr>
        <p:spPr>
          <a:xfrm rot="0">
            <a:off x="7132320" y="2651760"/>
            <a:ext cx="731520" cy="731520"/>
          </a:xfrm>
          <a:prstGeom prst="roundRect">
            <a:avLst>
              <a:gd fmla="val 16667" name="adj"/>
            </a:avLst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TextBox 23" id="23"/>
          <p:cNvSpPr txBox="true"/>
          <p:nvPr/>
        </p:nvSpPr>
        <p:spPr>
          <a:xfrm rot="0">
            <a:off x="7132320" y="2651760"/>
            <a:ext cx="731520" cy="7315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17920" y="3611880"/>
            <a:ext cx="256032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b="true" sz="17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 clique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00800" y="4069080"/>
            <a:ext cx="2194560" cy="73152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lang="en-US" sz="1299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Candidatura instantânea à vaga.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05088" y="3200400"/>
            <a:ext cx="457200" cy="5486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6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9006839" y="2377440"/>
            <a:ext cx="2560320" cy="246888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28" id="28"/>
          <p:cNvSpPr/>
          <p:nvPr/>
        </p:nvSpPr>
        <p:spPr>
          <a:xfrm rot="0">
            <a:off x="9921239" y="2651760"/>
            <a:ext cx="731520" cy="731520"/>
          </a:xfrm>
          <a:prstGeom prst="roundRect">
            <a:avLst>
              <a:gd fmla="val 16667" name="adj"/>
            </a:avLst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TextBox 29" id="29"/>
          <p:cNvSpPr txBox="true"/>
          <p:nvPr/>
        </p:nvSpPr>
        <p:spPr>
          <a:xfrm rot="0">
            <a:off x="9921239" y="2651760"/>
            <a:ext cx="731520" cy="73152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06839" y="3611880"/>
            <a:ext cx="2560320" cy="4572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b="true" sz="17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Sempre editável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89719" y="4069080"/>
            <a:ext cx="2194560" cy="73152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lang="en-US" sz="1299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Atualize os dados quando quiser.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0080" y="5303520"/>
            <a:ext cx="10881360" cy="640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lang="en-US" b="true" sz="1599">
                <a:solidFill>
                  <a:srgbClr val="0E1B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Menos atrito para o candidato, mais velocidade para a empresa.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chemeClr val="lt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name="AutoShape 3" id="3"/>
          <p:cNvSpPr/>
          <p:nvPr/>
        </p:nvSpPr>
        <p:spPr>
          <a:xfrm rot="0">
            <a:off x="0" y="0"/>
            <a:ext cx="256032" cy="6858000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AutoShape 4" id="4"/>
          <p:cNvSpPr/>
          <p:nvPr/>
        </p:nvSpPr>
        <p:spPr>
          <a:xfrm rot="0">
            <a:off x="640080" y="502920"/>
            <a:ext cx="777240" cy="77724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5" id="5"/>
          <p:cNvSpPr txBox="true"/>
          <p:nvPr/>
        </p:nvSpPr>
        <p:spPr>
          <a:xfrm rot="0"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30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502920"/>
            <a:ext cx="9601200" cy="3657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299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PROPOSTA DE VALOR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841248"/>
            <a:ext cx="10058400" cy="640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30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Três pilares que nos diferenciam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627632" y="1481328"/>
            <a:ext cx="2011680" cy="45720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AutoShape 9" id="9"/>
          <p:cNvSpPr/>
          <p:nvPr/>
        </p:nvSpPr>
        <p:spPr>
          <a:xfrm rot="0">
            <a:off x="640080" y="2286000"/>
            <a:ext cx="3429000" cy="310896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10" id="10"/>
          <p:cNvSpPr/>
          <p:nvPr/>
        </p:nvSpPr>
        <p:spPr>
          <a:xfrm rot="0">
            <a:off x="640080" y="2286000"/>
            <a:ext cx="3429000" cy="146304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TextBox 11" id="11"/>
          <p:cNvSpPr txBox="true"/>
          <p:nvPr/>
        </p:nvSpPr>
        <p:spPr>
          <a:xfrm rot="0">
            <a:off x="1005840" y="2743200"/>
            <a:ext cx="2743200" cy="5486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2199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Transparência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5840" y="3474720"/>
            <a:ext cx="2834640" cy="164592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5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Clareza total sobre a rotina e o modelo de cada vaga.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4370832" y="2286000"/>
            <a:ext cx="3429000" cy="310896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14" id="14"/>
          <p:cNvSpPr/>
          <p:nvPr/>
        </p:nvSpPr>
        <p:spPr>
          <a:xfrm rot="0">
            <a:off x="4370832" y="2286000"/>
            <a:ext cx="3429000" cy="146304"/>
          </a:xfrm>
          <a:prstGeom prst="rect">
            <a:avLst/>
          </a:prstGeom>
          <a:solidFill>
            <a:srgbClr val="0E1B3D">
              <a:alpha val="100000"/>
            </a:srgbClr>
          </a:solidFill>
          <a:ln/>
        </p:spPr>
      </p:sp>
      <p:sp>
        <p:nvSpPr>
          <p:cNvPr name="TextBox 15" id="15"/>
          <p:cNvSpPr txBox="true"/>
          <p:nvPr/>
        </p:nvSpPr>
        <p:spPr>
          <a:xfrm rot="0">
            <a:off x="4736592" y="2743200"/>
            <a:ext cx="2743200" cy="5486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2199">
                <a:solidFill>
                  <a:srgbClr val="0E1B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Padronização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36592" y="3474720"/>
            <a:ext cx="2834640" cy="164592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5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Perfis no mesmo formato, fáceis de comparar.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8101583" y="2286000"/>
            <a:ext cx="3429000" cy="310896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AutoShape 18" id="18"/>
          <p:cNvSpPr/>
          <p:nvPr/>
        </p:nvSpPr>
        <p:spPr>
          <a:xfrm rot="0">
            <a:off x="8101583" y="2286000"/>
            <a:ext cx="3429000" cy="146304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TextBox 19" id="19"/>
          <p:cNvSpPr txBox="true"/>
          <p:nvPr/>
        </p:nvSpPr>
        <p:spPr>
          <a:xfrm rot="0">
            <a:off x="8467343" y="2743200"/>
            <a:ext cx="2743200" cy="5486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2199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Antiatrito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67343" y="3474720"/>
            <a:ext cx="2834640" cy="164592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500">
                <a:solidFill>
                  <a:srgbClr val="5B63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Candidatura rápida, em um único clique.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chemeClr val="lt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name="AutoShape 3" id="3"/>
          <p:cNvSpPr/>
          <p:nvPr/>
        </p:nvSpPr>
        <p:spPr>
          <a:xfrm rot="0">
            <a:off x="0" y="0"/>
            <a:ext cx="256032" cy="6858000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AutoShape 4" id="4"/>
          <p:cNvSpPr/>
          <p:nvPr/>
        </p:nvSpPr>
        <p:spPr>
          <a:xfrm rot="0">
            <a:off x="640080" y="502920"/>
            <a:ext cx="777240" cy="77724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5" id="5"/>
          <p:cNvSpPr txBox="true"/>
          <p:nvPr/>
        </p:nvSpPr>
        <p:spPr>
          <a:xfrm rot="0"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30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502920"/>
            <a:ext cx="9601200" cy="3657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299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BENEFÍCIOS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841248"/>
            <a:ext cx="10058400" cy="640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30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 Empresas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627632" y="1481328"/>
            <a:ext cx="2011680" cy="45720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AutoShape 9" id="9"/>
          <p:cNvSpPr/>
          <p:nvPr/>
        </p:nvSpPr>
        <p:spPr>
          <a:xfrm rot="0">
            <a:off x="640080" y="1920240"/>
            <a:ext cx="10881360" cy="411480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10" id="10"/>
          <p:cNvSpPr txBox="true"/>
          <p:nvPr/>
        </p:nvSpPr>
        <p:spPr>
          <a:xfrm rot="0">
            <a:off x="1097280" y="2468880"/>
            <a:ext cx="10058400" cy="32004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b="true" sz="1400">
                <a:solidFill>
                  <a:srgbClr val="2B59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8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Triagem acelerada através de perfis padronizados no mesmo formato.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b="true" sz="1400">
                <a:solidFill>
                  <a:srgbClr val="2B59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8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Atração de talentos perfeitamente cientes do modelo de trabalho.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b="true" sz="1400">
                <a:solidFill>
                  <a:srgbClr val="2B59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8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Candidatos alinhados à rotina técnica e criativa da vaga.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b="true" sz="1400">
                <a:solidFill>
                  <a:srgbClr val="2B59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8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Menos candidaturas fora do perfil e menos retrabalho no RH.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chemeClr val="lt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sp>
        <p:nvSpPr>
          <p:cNvPr name="AutoShape 3" id="3"/>
          <p:cNvSpPr/>
          <p:nvPr/>
        </p:nvSpPr>
        <p:spPr>
          <a:xfrm rot="0">
            <a:off x="0" y="0"/>
            <a:ext cx="256032" cy="6858000"/>
          </a:xfrm>
          <a:prstGeom prst="rect">
            <a:avLst/>
          </a:prstGeom>
          <a:solidFill>
            <a:srgbClr val="2B59FF">
              <a:alpha val="100000"/>
            </a:srgbClr>
          </a:solidFill>
          <a:ln/>
        </p:spPr>
      </p:sp>
      <p:sp>
        <p:nvSpPr>
          <p:cNvPr name="AutoShape 4" id="4"/>
          <p:cNvSpPr/>
          <p:nvPr/>
        </p:nvSpPr>
        <p:spPr>
          <a:xfrm rot="0">
            <a:off x="640080" y="502920"/>
            <a:ext cx="777240" cy="77724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5" id="5"/>
          <p:cNvSpPr txBox="true"/>
          <p:nvPr/>
        </p:nvSpPr>
        <p:spPr>
          <a:xfrm rot="0"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5000"/>
              </a:lnSpc>
              <a:spcAft>
                <a:spcPct val="0"/>
              </a:spcAft>
            </a:pPr>
            <a:r>
              <a:rPr lang="en-US" b="true" sz="3000">
                <a:solidFill>
                  <a:srgbClr val="2B59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502920"/>
            <a:ext cx="9601200" cy="36576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1299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BENEFÍCIOS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841248"/>
            <a:ext cx="10058400" cy="64008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b="true" sz="3000">
                <a:solidFill>
                  <a:srgbClr val="E12D8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 Candidatos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627632" y="1481328"/>
            <a:ext cx="2011680" cy="45720"/>
          </a:xfrm>
          <a:prstGeom prst="rect">
            <a:avLst/>
          </a:prstGeom>
          <a:solidFill>
            <a:srgbClr val="E12D8B">
              <a:alpha val="100000"/>
            </a:srgbClr>
          </a:solidFill>
          <a:ln/>
        </p:spPr>
      </p:sp>
      <p:sp>
        <p:nvSpPr>
          <p:cNvPr name="AutoShape 9" id="9"/>
          <p:cNvSpPr/>
          <p:nvPr/>
        </p:nvSpPr>
        <p:spPr>
          <a:xfrm rot="0">
            <a:off x="640080" y="1920240"/>
            <a:ext cx="10881360" cy="4114800"/>
          </a:xfrm>
          <a:prstGeom prst="roundRect">
            <a:avLst>
              <a:gd fmla="val 16667" name="adj"/>
            </a:avLst>
          </a:prstGeom>
          <a:solidFill>
            <a:srgbClr val="F3F5F9">
              <a:alpha val="100000"/>
            </a:srgbClr>
          </a:solidFill>
          <a:ln/>
        </p:spPr>
      </p:sp>
      <p:sp>
        <p:nvSpPr>
          <p:cNvPr name="TextBox 10" id="10"/>
          <p:cNvSpPr txBox="true"/>
          <p:nvPr/>
        </p:nvSpPr>
        <p:spPr>
          <a:xfrm rot="0">
            <a:off x="1097280" y="2468880"/>
            <a:ext cx="10058400" cy="320040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b="true" sz="1400">
                <a:solidFill>
                  <a:srgbClr val="E12D8B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8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Preenchimento de dados único que constrói um CV profissional na plataforma.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b="true" sz="1400">
                <a:solidFill>
                  <a:srgbClr val="E12D8B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8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Candidatura rápida em apenas 1 clique.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b="true" sz="1400">
                <a:solidFill>
                  <a:srgbClr val="E12D8B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8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Clareza total sobre o dia a dia da vaga antes de aplicar.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b="true" sz="1400">
                <a:solidFill>
                  <a:srgbClr val="E12D8B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●  </a:t>
            </a:r>
            <a:r>
              <a:rPr lang="en-US" sz="1800">
                <a:solidFill>
                  <a:srgbClr val="1A1F2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Currículo 100% editável a qualquer momento.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